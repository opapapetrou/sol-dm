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1818"/>
    <a:srgbClr val="062D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94"/>
  </p:normalViewPr>
  <p:slideViewPr>
    <p:cSldViewPr snapToGrid="0">
      <p:cViewPr varScale="1">
        <p:scale>
          <a:sx n="121" d="100"/>
          <a:sy n="121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85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1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061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41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658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5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04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09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53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34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2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63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16C396-F123-DD05-C178-E03E7AF948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995" b="569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BFCB27-760B-5FF3-72F5-581461CE1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999" cy="1280160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DE2F83-1681-DD7D-DB06-45C93E1D2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75146"/>
            <a:ext cx="8196432" cy="960120"/>
          </a:xfrm>
        </p:spPr>
        <p:txBody>
          <a:bodyPr anchor="ctr">
            <a:normAutofit/>
          </a:bodyPr>
          <a:lstStyle/>
          <a:p>
            <a:r>
              <a:rPr lang="en-GB" sz="4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SOL-DM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BD984F-0CEA-FADE-2FEC-57B954B38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7152" y="175146"/>
            <a:ext cx="3402123" cy="960120"/>
          </a:xfrm>
        </p:spPr>
        <p:txBody>
          <a:bodyPr anchor="ctr">
            <a:normAutofit/>
          </a:bodyPr>
          <a:lstStyle/>
          <a:p>
            <a:pPr algn="r"/>
            <a:endParaRPr lang="en-GB" sz="190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9F990F4-8903-1921-BB4C-13CEDE7B516D}"/>
              </a:ext>
            </a:extLst>
          </p:cNvPr>
          <p:cNvSpPr txBox="1">
            <a:spLocks/>
          </p:cNvSpPr>
          <p:nvPr/>
        </p:nvSpPr>
        <p:spPr>
          <a:xfrm>
            <a:off x="0" y="1310402"/>
            <a:ext cx="3510456" cy="132283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GB" sz="5200" b="0" dirty="0">
                <a:solidFill>
                  <a:srgbClr val="C91818"/>
                </a:solidFill>
                <a:latin typeface="Bell MT" panose="02020503060305020303" pitchFamily="18" charset="77"/>
                <a:ea typeface="Source Sans Pro" panose="020B0503030403020204" pitchFamily="34" charset="0"/>
                <a:cs typeface="Courier New" panose="02070309020205020404" pitchFamily="49" charset="0"/>
              </a:rPr>
              <a:t>SOL – DM/e</a:t>
            </a:r>
            <a:br>
              <a:rPr lang="en-GB" b="0" dirty="0">
                <a:solidFill>
                  <a:srgbClr val="C91818"/>
                </a:solidFill>
                <a:latin typeface="Bell MT" panose="02020503060305020303" pitchFamily="18" charset="77"/>
                <a:ea typeface="Source Sans Pro" panose="020B0503030403020204" pitchFamily="34" charset="0"/>
                <a:cs typeface="Courier New" panose="02070309020205020404" pitchFamily="49" charset="0"/>
              </a:rPr>
            </a:br>
            <a:r>
              <a:rPr lang="en-GB" sz="1600" b="0" dirty="0">
                <a:solidFill>
                  <a:schemeClr val="tx2">
                    <a:lumMod val="90000"/>
                    <a:lumOff val="10000"/>
                  </a:schemeClr>
                </a:solidFill>
                <a:latin typeface="Bell MT" panose="02020503060305020303" pitchFamily="18" charset="77"/>
                <a:ea typeface="Source Sans Pro" panose="020B0503030403020204" pitchFamily="34" charset="0"/>
                <a:cs typeface="Courier New" panose="02070309020205020404" pitchFamily="49" charset="0"/>
              </a:rPr>
              <a:t>Scalable Online Data Management group</a:t>
            </a:r>
            <a:br>
              <a:rPr lang="en-GB" sz="1600" b="0" dirty="0">
                <a:latin typeface="Bell MT" panose="02020503060305020303" pitchFamily="18" charset="77"/>
                <a:ea typeface="Source Sans Pro" panose="020B0503030403020204" pitchFamily="34" charset="0"/>
                <a:cs typeface="Courier New" panose="02070309020205020404" pitchFamily="49" charset="0"/>
              </a:rPr>
            </a:br>
            <a:r>
              <a:rPr lang="en-GB" sz="1600" b="0" dirty="0">
                <a:latin typeface="Bell MT" panose="02020503060305020303" pitchFamily="18" charset="77"/>
                <a:ea typeface="Source Sans Pro" panose="020B0503030403020204" pitchFamily="34" charset="0"/>
                <a:cs typeface="Courier New" panose="02070309020205020404" pitchFamily="49" charset="0"/>
              </a:rPr>
              <a:t>      Eindhoven University of Technology</a:t>
            </a:r>
          </a:p>
        </p:txBody>
      </p:sp>
    </p:spTree>
    <p:extLst>
      <p:ext uri="{BB962C8B-B14F-4D97-AF65-F5344CB8AC3E}">
        <p14:creationId xmlns:p14="http://schemas.microsoft.com/office/powerpoint/2010/main" val="3765648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F49EC-BFA3-9E4E-8D95-944389A2F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445" y="1182816"/>
            <a:ext cx="3510456" cy="1322832"/>
          </a:xfrm>
        </p:spPr>
        <p:txBody>
          <a:bodyPr>
            <a:normAutofit fontScale="90000"/>
          </a:bodyPr>
          <a:lstStyle/>
          <a:p>
            <a:pPr algn="just"/>
            <a:r>
              <a:rPr lang="en-GB" sz="5200" b="0" dirty="0">
                <a:solidFill>
                  <a:srgbClr val="C91818"/>
                </a:solidFill>
                <a:latin typeface="Bell MT" panose="02020503060305020303" pitchFamily="18" charset="77"/>
                <a:ea typeface="Source Sans Pro" panose="020B0503030403020204" pitchFamily="34" charset="0"/>
                <a:cs typeface="Courier New" panose="02070309020205020404" pitchFamily="49" charset="0"/>
              </a:rPr>
              <a:t>SOL – DM/e</a:t>
            </a:r>
            <a:br>
              <a:rPr lang="en-GB" b="0" dirty="0">
                <a:solidFill>
                  <a:srgbClr val="C91818"/>
                </a:solidFill>
                <a:latin typeface="Bell MT" panose="02020503060305020303" pitchFamily="18" charset="77"/>
                <a:ea typeface="Source Sans Pro" panose="020B0503030403020204" pitchFamily="34" charset="0"/>
                <a:cs typeface="Courier New" panose="02070309020205020404" pitchFamily="49" charset="0"/>
              </a:rPr>
            </a:br>
            <a:r>
              <a:rPr lang="en-GB" sz="1600" b="0" dirty="0">
                <a:solidFill>
                  <a:schemeClr val="tx2">
                    <a:lumMod val="90000"/>
                    <a:lumOff val="10000"/>
                  </a:schemeClr>
                </a:solidFill>
                <a:latin typeface="Bell MT" panose="02020503060305020303" pitchFamily="18" charset="77"/>
                <a:ea typeface="Source Sans Pro" panose="020B0503030403020204" pitchFamily="34" charset="0"/>
                <a:cs typeface="Courier New" panose="02070309020205020404" pitchFamily="49" charset="0"/>
              </a:rPr>
              <a:t>Scalable Online Data Management group</a:t>
            </a:r>
            <a:br>
              <a:rPr lang="en-GB" sz="1600" b="0" dirty="0">
                <a:latin typeface="Bell MT" panose="02020503060305020303" pitchFamily="18" charset="77"/>
                <a:ea typeface="Source Sans Pro" panose="020B0503030403020204" pitchFamily="34" charset="0"/>
                <a:cs typeface="Courier New" panose="02070309020205020404" pitchFamily="49" charset="0"/>
              </a:rPr>
            </a:br>
            <a:r>
              <a:rPr lang="en-GB" sz="1600" b="0" dirty="0">
                <a:latin typeface="Bell MT" panose="02020503060305020303" pitchFamily="18" charset="77"/>
                <a:ea typeface="Source Sans Pro" panose="020B0503030403020204" pitchFamily="34" charset="0"/>
                <a:cs typeface="Courier New" panose="02070309020205020404" pitchFamily="49" charset="0"/>
              </a:rPr>
              <a:t>      Eindhoven University of Technology</a:t>
            </a:r>
          </a:p>
        </p:txBody>
      </p:sp>
      <p:pic>
        <p:nvPicPr>
          <p:cNvPr id="1026" name="Picture 2" descr="client">
            <a:extLst>
              <a:ext uri="{FF2B5EF4-FFF2-40B4-BE49-F238E27FC236}">
                <a16:creationId xmlns:a16="http://schemas.microsoft.com/office/drawing/2014/main" id="{58CE28D1-66AD-79F5-2E76-C23553FDC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512" y="1500920"/>
            <a:ext cx="3195918" cy="686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33A7A74-8443-B75A-3543-F402E145CBA5}"/>
              </a:ext>
            </a:extLst>
          </p:cNvPr>
          <p:cNvSpPr txBox="1">
            <a:spLocks/>
          </p:cNvSpPr>
          <p:nvPr/>
        </p:nvSpPr>
        <p:spPr>
          <a:xfrm>
            <a:off x="2611172" y="2368215"/>
            <a:ext cx="4110070" cy="9491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GB" sz="5400" dirty="0">
                <a:solidFill>
                  <a:srgbClr val="C9181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SOL – DM/e</a:t>
            </a:r>
            <a:endParaRPr lang="en-GB" sz="5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ED892B-BFD2-2B6C-49A6-FE48224BCCE5}"/>
              </a:ext>
            </a:extLst>
          </p:cNvPr>
          <p:cNvSpPr txBox="1">
            <a:spLocks/>
          </p:cNvSpPr>
          <p:nvPr/>
        </p:nvSpPr>
        <p:spPr>
          <a:xfrm>
            <a:off x="943844" y="4352354"/>
            <a:ext cx="3680707" cy="7031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GB" sz="5200" b="0" dirty="0">
                <a:solidFill>
                  <a:srgbClr val="C91818"/>
                </a:solidFill>
                <a:latin typeface="Bell MT" panose="02020503060305020303" pitchFamily="18" charset="77"/>
                <a:ea typeface="Source Sans Pro" panose="020B0503030403020204" pitchFamily="34" charset="0"/>
                <a:cs typeface="Courier New" panose="02070309020205020404" pitchFamily="49" charset="0"/>
              </a:rPr>
              <a:t>SO – DATA/e</a:t>
            </a:r>
            <a:endParaRPr lang="en-GB" sz="1600" b="0" dirty="0">
              <a:latin typeface="Bell MT" panose="02020503060305020303" pitchFamily="18" charset="77"/>
              <a:ea typeface="Source Sans Pro" panose="020B0503030403020204" pitchFamily="34" charset="0"/>
              <a:cs typeface="Courier New" panose="02070309020205020404" pitchFamily="49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2A90229-71FA-ADCD-422A-580C26781181}"/>
              </a:ext>
            </a:extLst>
          </p:cNvPr>
          <p:cNvSpPr txBox="1">
            <a:spLocks/>
          </p:cNvSpPr>
          <p:nvPr/>
        </p:nvSpPr>
        <p:spPr>
          <a:xfrm>
            <a:off x="6386076" y="3317389"/>
            <a:ext cx="2789455" cy="7031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GB" sz="5200" b="0" dirty="0">
                <a:solidFill>
                  <a:srgbClr val="C91818"/>
                </a:solidFill>
                <a:latin typeface="Bell MT" panose="02020503060305020303" pitchFamily="18" charset="77"/>
                <a:ea typeface="Source Sans Pro" panose="020B0503030403020204" pitchFamily="34" charset="0"/>
                <a:cs typeface="Courier New" panose="02070309020205020404" pitchFamily="49" charset="0"/>
              </a:rPr>
              <a:t>SCOND/e</a:t>
            </a:r>
            <a:endParaRPr lang="en-GB" sz="1600" b="0" dirty="0">
              <a:latin typeface="Bell MT" panose="02020503060305020303" pitchFamily="18" charset="77"/>
              <a:ea typeface="Source Sans Pro" panose="020B0503030403020204" pitchFamily="34" charset="0"/>
              <a:cs typeface="Courier New" panose="02070309020205020404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F146999-347A-836A-4B26-F637F58E2F85}"/>
              </a:ext>
            </a:extLst>
          </p:cNvPr>
          <p:cNvSpPr txBox="1">
            <a:spLocks/>
          </p:cNvSpPr>
          <p:nvPr/>
        </p:nvSpPr>
        <p:spPr>
          <a:xfrm>
            <a:off x="6721242" y="4266563"/>
            <a:ext cx="3094255" cy="7031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2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GB" sz="5200" b="0" dirty="0">
                <a:solidFill>
                  <a:srgbClr val="C91818"/>
                </a:solidFill>
                <a:latin typeface="Bell MT" panose="02020503060305020303" pitchFamily="18" charset="77"/>
                <a:ea typeface="Source Sans Pro" panose="020B0503030403020204" pitchFamily="34" charset="0"/>
                <a:cs typeface="Courier New" panose="02070309020205020404" pitchFamily="49" charset="0"/>
              </a:rPr>
              <a:t>MSCOND/e</a:t>
            </a:r>
            <a:endParaRPr lang="en-GB" sz="1600" b="0" dirty="0">
              <a:latin typeface="Bell MT" panose="02020503060305020303" pitchFamily="18" charset="77"/>
              <a:ea typeface="Source Sans Pro" panose="020B0503030403020204" pitchFamily="34" charset="0"/>
              <a:cs typeface="Courier New" panose="02070309020205020404" pitchFamily="49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E89DD41-2919-A726-6408-B6FC7D954F5D}"/>
              </a:ext>
            </a:extLst>
          </p:cNvPr>
          <p:cNvSpPr txBox="1">
            <a:spLocks/>
          </p:cNvSpPr>
          <p:nvPr/>
        </p:nvSpPr>
        <p:spPr>
          <a:xfrm>
            <a:off x="8226430" y="2187543"/>
            <a:ext cx="3094255" cy="7031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GB" sz="5200" b="0" dirty="0" err="1">
                <a:solidFill>
                  <a:srgbClr val="C91818"/>
                </a:solidFill>
                <a:latin typeface="Bell MT" panose="02020503060305020303" pitchFamily="18" charset="77"/>
                <a:ea typeface="Source Sans Pro" panose="020B0503030403020204" pitchFamily="34" charset="0"/>
                <a:cs typeface="Courier New" panose="02070309020205020404" pitchFamily="49" charset="0"/>
              </a:rPr>
              <a:t>scond</a:t>
            </a:r>
            <a:r>
              <a:rPr lang="en-GB" sz="5200" b="0" dirty="0">
                <a:solidFill>
                  <a:srgbClr val="C91818"/>
                </a:solidFill>
                <a:latin typeface="Bell MT" panose="02020503060305020303" pitchFamily="18" charset="77"/>
                <a:ea typeface="Source Sans Pro" panose="020B0503030403020204" pitchFamily="34" charset="0"/>
                <a:cs typeface="Courier New" panose="02070309020205020404" pitchFamily="49" charset="0"/>
              </a:rPr>
              <a:t>/e</a:t>
            </a:r>
            <a:endParaRPr lang="en-GB" sz="1600" b="0" dirty="0">
              <a:latin typeface="Bell MT" panose="02020503060305020303" pitchFamily="18" charset="77"/>
              <a:ea typeface="Source Sans Pro" panose="020B0503030403020204" pitchFamily="34" charset="0"/>
              <a:cs typeface="Courier New" panose="02070309020205020404" pitchFamily="49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6A7189-53A1-30CD-4FE7-8FFAF28325D8}"/>
              </a:ext>
            </a:extLst>
          </p:cNvPr>
          <p:cNvSpPr txBox="1">
            <a:spLocks/>
          </p:cNvSpPr>
          <p:nvPr/>
        </p:nvSpPr>
        <p:spPr>
          <a:xfrm>
            <a:off x="943844" y="5323623"/>
            <a:ext cx="3102640" cy="7031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GB" sz="5200" b="0" dirty="0">
                <a:solidFill>
                  <a:srgbClr val="C91818"/>
                </a:solidFill>
                <a:latin typeface="Bell MT" panose="02020503060305020303" pitchFamily="18" charset="77"/>
                <a:ea typeface="Source Sans Pro" panose="020B0503030403020204" pitchFamily="34" charset="0"/>
                <a:cs typeface="Courier New" panose="02070309020205020404" pitchFamily="49" charset="0"/>
              </a:rPr>
              <a:t>SODATA/e</a:t>
            </a:r>
            <a:endParaRPr lang="en-GB" sz="1600" b="0" dirty="0">
              <a:latin typeface="Bell MT" panose="02020503060305020303" pitchFamily="18" charset="77"/>
              <a:ea typeface="Source Sans Pro" panose="020B0503030403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83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53AD4-C2FE-EB89-F109-7A7106187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47388-8258-79EF-E59F-218003EA4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847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FA87CD-C9DA-46F8-F3CB-213D3B988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604" y="3231512"/>
            <a:ext cx="571500" cy="88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110724-756C-143F-E1E1-96541A4B2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454" y="3014736"/>
            <a:ext cx="431800" cy="101600"/>
          </a:xfrm>
          <a:prstGeom prst="rect">
            <a:avLst/>
          </a:prstGeom>
        </p:spPr>
      </p:pic>
      <p:pic>
        <p:nvPicPr>
          <p:cNvPr id="8" name="Camera 7">
            <a:extLst>
              <a:ext uri="{FF2B5EF4-FFF2-40B4-BE49-F238E27FC236}">
                <a16:creationId xmlns:a16="http://schemas.microsoft.com/office/drawing/2014/main" id="{D25AD1D4-25FC-7BF4-5B62-E852FB693CA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pic>
        <p:nvPicPr>
          <p:cNvPr id="10" name="Graphic 9" descr="User with solid fill">
            <a:extLst>
              <a:ext uri="{FF2B5EF4-FFF2-40B4-BE49-F238E27FC236}">
                <a16:creationId xmlns:a16="http://schemas.microsoft.com/office/drawing/2014/main" id="{1E2D456B-C82E-77EA-6636-D09B9206BA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38506" y="260833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55768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6060</TotalTime>
  <Words>57</Words>
  <Application>Microsoft Macintosh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Bell MT</vt:lpstr>
      <vt:lpstr>Bierstadt</vt:lpstr>
      <vt:lpstr>Helvetica Neue</vt:lpstr>
      <vt:lpstr>Source Sans Pro</vt:lpstr>
      <vt:lpstr>GestaltVTI</vt:lpstr>
      <vt:lpstr>SOL-DM</vt:lpstr>
      <vt:lpstr>SOL – DM/e Scalable Online Data Management group       Eindhoven University of Technology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Odysseas Papapetrou</dc:creator>
  <cp:lastModifiedBy>Odysseas Papapetrou</cp:lastModifiedBy>
  <cp:revision>4</cp:revision>
  <dcterms:created xsi:type="dcterms:W3CDTF">2025-12-22T13:47:29Z</dcterms:created>
  <dcterms:modified xsi:type="dcterms:W3CDTF">2026-01-05T12:13:20Z</dcterms:modified>
</cp:coreProperties>
</file>